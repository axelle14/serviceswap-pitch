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7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73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 Size ($B)</c:v>
                </c:pt>
              </c:strCache>
            </c:strRef>
          </c:tx>
          <c:spPr>
            <a:solidFill>
              <a:srgbClr val="2D9E6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A6B4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204</c:v>
                </c:pt>
                <c:pt idx="1">
                  <c:v>247</c:v>
                </c:pt>
                <c:pt idx="2">
                  <c:v>298</c:v>
                </c:pt>
                <c:pt idx="3">
                  <c:v>355</c:v>
                </c:pt>
                <c:pt idx="4">
                  <c:v>455</c:v>
                </c:pt>
                <c:pt idx="5">
                  <c:v>540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13E-48B3-BCFD-C67DB92CC1F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DFAF5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($K)</c:v>
                </c:pt>
              </c:strCache>
            </c:strRef>
          </c:tx>
          <c:spPr>
            <a:solidFill>
              <a:srgbClr val="1A6B4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C1C1C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120</c:v>
                </c:pt>
                <c:pt idx="1">
                  <c:v>680</c:v>
                </c:pt>
                <c:pt idx="2">
                  <c:v>2400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593-4C8E-803C-F8845124D1F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Users (K)</c:v>
                </c:pt>
              </c:strCache>
            </c:strRef>
          </c:tx>
          <c:spPr>
            <a:solidFill>
              <a:srgbClr val="D4A84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C1C1C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15</c:v>
                </c:pt>
                <c:pt idx="1">
                  <c:v>80</c:v>
                </c:pt>
                <c:pt idx="2">
                  <c:v>280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593-4C8E-803C-F8845124D1F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solidFill>
      <a:srgbClr val="FDFAF5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0394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6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097280"/>
            <a:ext cx="5029200" cy="5029200"/>
          </a:xfrm>
          <a:prstGeom prst="ellipse">
            <a:avLst/>
          </a:prstGeom>
          <a:solidFill>
            <a:srgbClr val="2D9E6B">
              <a:alpha val="25000"/>
            </a:srgbClr>
          </a:solidFill>
          <a:ln w="12700">
            <a:solidFill>
              <a:srgbClr val="2D9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132320" y="-182880"/>
            <a:ext cx="3200400" cy="3200400"/>
          </a:xfrm>
          <a:prstGeom prst="ellipse">
            <a:avLst/>
          </a:prstGeom>
          <a:solidFill>
            <a:srgbClr val="2D9E6B">
              <a:alpha val="45000"/>
            </a:srgbClr>
          </a:solidFill>
          <a:ln w="12700">
            <a:solidFill>
              <a:srgbClr val="2D9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2377440" cy="320040"/>
          </a:xfrm>
          <a:prstGeom prst="roundRect">
            <a:avLst>
              <a:gd name="adj" fmla="val 22857"/>
            </a:avLst>
          </a:prstGeom>
          <a:solidFill>
            <a:srgbClr val="2D9E6B">
              <a:alpha val="40000"/>
            </a:srgbClr>
          </a:solidFill>
          <a:ln w="12700">
            <a:solidFill>
              <a:srgbClr val="2D9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58368" y="10058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50" dirty="0">
                <a:solidFill>
                  <a:srgbClr val="C6ECD9"/>
                </a:solidFill>
              </a:rPr>
              <a:t>INVESTOR PITCH  · 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ServiceSwap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548640" y="24688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C6EC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Trade Skills, Not Cash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48640" y="324612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6ECD9"/>
                </a:solidFill>
              </a:rPr>
              <a:t>The community marketplace where people barter their skills — no money required.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43891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4A84B"/>
                </a:solidFill>
              </a:rPr>
              <a:t>serviceswap.org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4A5568"/>
                </a:solidFill>
              </a:rPr>
              <a:t>Skilled people are cash-poor, not opportunity-poor.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260604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FF5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85800" y="1709928"/>
            <a:ext cx="502920" cy="502920"/>
          </a:xfrm>
          <a:prstGeom prst="ellipse">
            <a:avLst/>
          </a:prstGeom>
          <a:solidFill>
            <a:srgbClr val="C6ECD9"/>
          </a:solidFill>
          <a:ln w="6350">
            <a:solidFill>
              <a:srgbClr val="2D9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76656" y="1691640"/>
            <a:ext cx="5212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💸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31343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1C1C"/>
                </a:solidFill>
              </a:rPr>
              <a:t>Services cost too much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65176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5568"/>
                </a:solidFill>
              </a:rPr>
              <a:t>Freelancers charge market rates most people can't comfortably afford for one-off help.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508760"/>
            <a:ext cx="260604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FF5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520440" y="1709928"/>
            <a:ext cx="502920" cy="502920"/>
          </a:xfrm>
          <a:prstGeom prst="ellipse">
            <a:avLst/>
          </a:prstGeom>
          <a:solidFill>
            <a:srgbClr val="C6ECD9"/>
          </a:solidFill>
          <a:ln w="6350">
            <a:solidFill>
              <a:srgbClr val="2D9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511296" y="1691640"/>
            <a:ext cx="5212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474720" y="231343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1C1C"/>
                </a:solidFill>
              </a:rPr>
              <a:t>Great talent goes untapped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74720" y="265176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5568"/>
                </a:solidFill>
              </a:rPr>
              <a:t>Millions of skilled individuals have expertise but no easy way to trade it for things they need.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1508760"/>
            <a:ext cx="260604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FF5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355080" y="1709928"/>
            <a:ext cx="502920" cy="502920"/>
          </a:xfrm>
          <a:prstGeom prst="ellipse">
            <a:avLst/>
          </a:prstGeom>
          <a:solidFill>
            <a:srgbClr val="C6ECD9"/>
          </a:solidFill>
          <a:ln w="6350">
            <a:solidFill>
              <a:srgbClr val="2D9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345936" y="1691640"/>
            <a:ext cx="5212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🤝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309360" y="231343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1C1C"/>
                </a:solidFill>
              </a:rPr>
              <a:t>Trust is a barrier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09360" y="265176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5568"/>
                </a:solidFill>
              </a:rPr>
              <a:t>Finding reliable help through classifieds or social media is unsafe and inconsistent.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343400"/>
            <a:ext cx="8229600" cy="502920"/>
          </a:xfrm>
          <a:prstGeom prst="rect">
            <a:avLst/>
          </a:prstGeom>
          <a:solidFill>
            <a:srgbClr val="C6ECD9"/>
          </a:solidFill>
          <a:ln w="6350">
            <a:solidFill>
              <a:srgbClr val="2D9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48640" y="436168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1A6B4A"/>
                </a:solidFill>
              </a:rPr>
              <a:t>42% of gig workers say they'd happily barter skills if a trusted platform existed  —  Freelancer Economy Report, 2024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EB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1A6B4A"/>
          </a:solidFill>
          <a:ln w="12700">
            <a:solidFill>
              <a:srgbClr val="1A6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73152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Solution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365760" y="21945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6ECD9"/>
                </a:solidFill>
              </a:rPr>
              <a:t>ServiceSwap is a structured skill-barter marketplace — match, agree, swap, review.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32918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FFFFFF"/>
                </a:solidFill>
              </a:rPr>
              <a:t>No cash. No guessing.</a:t>
            </a:r>
            <a:endParaRPr lang="en-US" sz="1600" dirty="0"/>
          </a:p>
          <a:p>
            <a:pPr marL="0" indent="0">
              <a:buNone/>
            </a:pPr>
            <a:r>
              <a:rPr lang="en-US" sz="1600" b="1" i="1" dirty="0">
                <a:solidFill>
                  <a:srgbClr val="FFFFFF"/>
                </a:solidFill>
              </a:rPr>
              <a:t>Just value for value.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46634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A84B"/>
                </a:solidFill>
              </a:rPr>
              <a:t>serviceswap.org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480560" y="365760"/>
            <a:ext cx="219456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FF5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709160" y="566928"/>
            <a:ext cx="502920" cy="502920"/>
          </a:xfrm>
          <a:prstGeom prst="ellipse">
            <a:avLst/>
          </a:prstGeom>
          <a:solidFill>
            <a:srgbClr val="C6ECD9"/>
          </a:solidFill>
          <a:ln w="6350">
            <a:solidFill>
              <a:srgbClr val="2D9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700016" y="548640"/>
            <a:ext cx="5212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🔎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663440" y="11704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1C1C"/>
                </a:solidFill>
              </a:rPr>
              <a:t>Skill Listings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663440" y="15087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5568"/>
                </a:solidFill>
              </a:rPr>
              <a:t>Post what you offer and browse what you need in seconds.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12280" y="365760"/>
            <a:ext cx="219456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FF5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040880" y="566928"/>
            <a:ext cx="502920" cy="502920"/>
          </a:xfrm>
          <a:prstGeom prst="ellipse">
            <a:avLst/>
          </a:prstGeom>
          <a:solidFill>
            <a:srgbClr val="C6ECD9"/>
          </a:solidFill>
          <a:ln w="6350">
            <a:solidFill>
              <a:srgbClr val="2D9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031736" y="548640"/>
            <a:ext cx="5212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⚖️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995160" y="11704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1C1C"/>
                </a:solidFill>
              </a:rPr>
              <a:t>Fair Match Engine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995160" y="15087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5568"/>
                </a:solidFill>
              </a:rPr>
              <a:t>Our algorithm surfaces balanced swaps — fair value for both sides.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480560" y="2651760"/>
            <a:ext cx="219456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FF5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709160" y="2852928"/>
            <a:ext cx="502920" cy="502920"/>
          </a:xfrm>
          <a:prstGeom prst="ellipse">
            <a:avLst/>
          </a:prstGeom>
          <a:solidFill>
            <a:srgbClr val="C6ECD9"/>
          </a:solidFill>
          <a:ln w="6350">
            <a:solidFill>
              <a:srgbClr val="2D9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700016" y="2834640"/>
            <a:ext cx="5212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🛡️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663440" y="34564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1C1C"/>
                </a:solidFill>
              </a:rPr>
              <a:t>Trust &amp; Reviews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663440" y="37947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5568"/>
                </a:solidFill>
              </a:rPr>
              <a:t>Two-way reviews and verified profiles build community trust.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812280" y="2651760"/>
            <a:ext cx="219456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FF5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040880" y="2852928"/>
            <a:ext cx="502920" cy="502920"/>
          </a:xfrm>
          <a:prstGeom prst="ellipse">
            <a:avLst/>
          </a:prstGeom>
          <a:solidFill>
            <a:srgbClr val="C6ECD9"/>
          </a:solidFill>
          <a:ln w="6350">
            <a:solidFill>
              <a:srgbClr val="2D9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031736" y="2834640"/>
            <a:ext cx="5212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💬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995160" y="34564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1C1C"/>
                </a:solidFill>
              </a:rPr>
              <a:t>In-App Messaging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995160" y="37947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5568"/>
                </a:solidFill>
              </a:rPr>
              <a:t>Coordinate swaps safely without sharing personal contact info.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Works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5568"/>
                </a:solidFill>
              </a:rPr>
              <a:t>Four simple steps from skill to swap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182880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FF5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43000" y="1645920"/>
            <a:ext cx="548640" cy="548640"/>
          </a:xfrm>
          <a:prstGeom prst="ellipse">
            <a:avLst/>
          </a:prstGeom>
          <a:solidFill>
            <a:srgbClr val="1A6B4A"/>
          </a:solidFill>
          <a:ln w="12700">
            <a:solidFill>
              <a:srgbClr val="1A6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43000" y="16367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1C1C"/>
                </a:solidFill>
              </a:rPr>
              <a:t>List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65176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5568"/>
                </a:solidFill>
              </a:rPr>
              <a:t>Post your skill — design, coding, tutoring, cooking, repairs, and more.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377440" y="2514600"/>
            <a:ext cx="137160" cy="0"/>
          </a:xfrm>
          <a:prstGeom prst="line">
            <a:avLst/>
          </a:prstGeom>
          <a:noFill/>
          <a:ln w="25400">
            <a:solidFill>
              <a:srgbClr val="2D9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560320" y="1463040"/>
            <a:ext cx="182880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FF5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00400" y="1645920"/>
            <a:ext cx="548640" cy="548640"/>
          </a:xfrm>
          <a:prstGeom prst="ellipse">
            <a:avLst/>
          </a:prstGeom>
          <a:solidFill>
            <a:srgbClr val="1A6B4A"/>
          </a:solidFill>
          <a:ln w="12700">
            <a:solidFill>
              <a:srgbClr val="1A6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00400" y="16367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697480" y="2286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1C1C"/>
                </a:solidFill>
              </a:rPr>
              <a:t>Browse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97480" y="265176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5568"/>
                </a:solidFill>
              </a:rPr>
              <a:t>Discover listings near you or globally. Filter by category or skill level.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434840" y="2514600"/>
            <a:ext cx="137160" cy="0"/>
          </a:xfrm>
          <a:prstGeom prst="line">
            <a:avLst/>
          </a:prstGeom>
          <a:noFill/>
          <a:ln w="25400">
            <a:solidFill>
              <a:srgbClr val="2D9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617720" y="1463040"/>
            <a:ext cx="182880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FF5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257800" y="1645920"/>
            <a:ext cx="548640" cy="548640"/>
          </a:xfrm>
          <a:prstGeom prst="ellipse">
            <a:avLst/>
          </a:prstGeom>
          <a:solidFill>
            <a:srgbClr val="1A6B4A"/>
          </a:solidFill>
          <a:ln w="12700">
            <a:solidFill>
              <a:srgbClr val="1A6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257800" y="16367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754880" y="2286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1C1C"/>
                </a:solidFill>
              </a:rPr>
              <a:t>Match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54880" y="265176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5568"/>
                </a:solidFill>
              </a:rPr>
              <a:t>Propose a swap. Chat in-app to agree on scope, timeline and terms.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492240" y="2514600"/>
            <a:ext cx="137160" cy="0"/>
          </a:xfrm>
          <a:prstGeom prst="line">
            <a:avLst/>
          </a:prstGeom>
          <a:noFill/>
          <a:ln w="25400">
            <a:solidFill>
              <a:srgbClr val="2D9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675120" y="1463040"/>
            <a:ext cx="182880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FF5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315200" y="1645920"/>
            <a:ext cx="548640" cy="548640"/>
          </a:xfrm>
          <a:prstGeom prst="ellipse">
            <a:avLst/>
          </a:prstGeom>
          <a:solidFill>
            <a:srgbClr val="1A6B4A"/>
          </a:solidFill>
          <a:ln w="12700">
            <a:solidFill>
              <a:srgbClr val="1A6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315200" y="16367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812280" y="2286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1C1C"/>
                </a:solidFill>
              </a:rPr>
              <a:t>Complete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812280" y="265176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5568"/>
                </a:solidFill>
              </a:rPr>
              <a:t>Deliver the swap, then leave a review — your reputation grows with every trade.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286000" y="3840480"/>
            <a:ext cx="4572000" cy="731520"/>
          </a:xfrm>
          <a:prstGeom prst="rect">
            <a:avLst/>
          </a:prstGeom>
          <a:solidFill>
            <a:srgbClr val="C6ECD9"/>
          </a:solidFill>
          <a:ln w="12700">
            <a:solidFill>
              <a:srgbClr val="2D9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286000" y="384048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6B4A"/>
                </a:solidFill>
              </a:rPr>
              <a:t>Average swap completed in under 48 hours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EB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 Opportunity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5568"/>
                </a:solidFill>
              </a:rPr>
              <a:t>The gig &amp; skills economy is massive — and underserved for non-cash exchange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56032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F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1627632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A6B4A"/>
                </a:solidFill>
              </a:rPr>
              <a:t>$455B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22677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1C1C"/>
                </a:solidFill>
              </a:rPr>
              <a:t>Global Gig Economy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54203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BB0"/>
                </a:solidFill>
              </a:rPr>
              <a:t>Total market 2024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91840" y="1463040"/>
            <a:ext cx="256032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F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429000" y="1627632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A6B4A"/>
                </a:solidFill>
              </a:rPr>
              <a:t>1.5B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383280" y="22677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1C1C"/>
                </a:solidFill>
              </a:rPr>
              <a:t>Freelance Workers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83280" y="254203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BB0"/>
                </a:solidFill>
              </a:rPr>
              <a:t>Globally by 2025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1463040"/>
            <a:ext cx="210312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F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263640" y="162763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A6B4A"/>
                </a:solidFill>
              </a:rPr>
              <a:t>$28B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6217920" y="22677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1C1C"/>
                </a:solidFill>
              </a:rPr>
              <a:t>Barter Economy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17920" y="254203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BB0"/>
                </a:solidFill>
              </a:rPr>
              <a:t>Est. addressable market</a:t>
            </a:r>
            <a:endParaRPr lang="en-US" sz="1000" dirty="0"/>
          </a:p>
        </p:txBody>
      </p:sp>
      <p:graphicFrame>
        <p:nvGraphicFramePr>
          <p:cNvPr id="16" name="Chart 0"/>
          <p:cNvGraphicFramePr/>
          <p:nvPr/>
        </p:nvGraphicFramePr>
        <p:xfrm>
          <a:off x="457200" y="3154680"/>
          <a:ext cx="8229600" cy="1691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Model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5568"/>
                </a:solidFill>
              </a:rPr>
              <a:t>Free to join. Multiple revenue streams at scale.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97764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FF5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64008" cy="1508760"/>
          </a:xfrm>
          <a:prstGeom prst="rect">
            <a:avLst/>
          </a:prstGeom>
          <a:solidFill>
            <a:srgbClr val="1A6B4A"/>
          </a:solidFill>
          <a:ln w="12700">
            <a:solidFill>
              <a:srgbClr val="1A6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162763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C1C"/>
                </a:solidFill>
              </a:rPr>
              <a:t>⭐  ServiceSwap Pro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83280" y="1627632"/>
            <a:ext cx="822960" cy="274320"/>
          </a:xfrm>
          <a:prstGeom prst="roundRect">
            <a:avLst>
              <a:gd name="adj" fmla="val 20000"/>
            </a:avLst>
          </a:prstGeom>
          <a:solidFill>
            <a:srgbClr val="FAF0D7"/>
          </a:solidFill>
          <a:ln w="6350">
            <a:solidFill>
              <a:srgbClr val="D4A8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383280" y="162763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4A84B"/>
                </a:solidFill>
              </a:rPr>
              <a:t>$9.99/mo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2057400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</a:rPr>
              <a:t>Unlimited swaps, priority matching, advanced filters, and a verified badge.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800600" y="1463040"/>
            <a:ext cx="397764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FF5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800600" y="1463040"/>
            <a:ext cx="64008" cy="1508760"/>
          </a:xfrm>
          <a:prstGeom prst="rect">
            <a:avLst/>
          </a:prstGeom>
          <a:solidFill>
            <a:srgbClr val="1A6B4A"/>
          </a:solidFill>
          <a:ln w="12700">
            <a:solidFill>
              <a:srgbClr val="1A6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0" y="162763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C1C"/>
                </a:solidFill>
              </a:rPr>
              <a:t>🏢  Business Accounts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26680" y="1627632"/>
            <a:ext cx="822960" cy="274320"/>
          </a:xfrm>
          <a:prstGeom prst="roundRect">
            <a:avLst>
              <a:gd name="adj" fmla="val 20000"/>
            </a:avLst>
          </a:prstGeom>
          <a:solidFill>
            <a:srgbClr val="FAF0D7"/>
          </a:solidFill>
          <a:ln w="6350">
            <a:solidFill>
              <a:srgbClr val="D4A8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726680" y="162763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4A84B"/>
                </a:solidFill>
              </a:rPr>
              <a:t>$29/mo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0" y="2057400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</a:rPr>
              <a:t>Teams post multiple skill needs, manage swaps, and build brand reputation.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3154680"/>
            <a:ext cx="397764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FF5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57200" y="3154680"/>
            <a:ext cx="64008" cy="1508760"/>
          </a:xfrm>
          <a:prstGeom prst="rect">
            <a:avLst/>
          </a:prstGeom>
          <a:solidFill>
            <a:srgbClr val="1A6B4A"/>
          </a:solidFill>
          <a:ln w="12700">
            <a:solidFill>
              <a:srgbClr val="1A6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85800" y="331927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C1C"/>
                </a:solidFill>
              </a:rPr>
              <a:t>🔐  Swap Credits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383280" y="3319272"/>
            <a:ext cx="822960" cy="274320"/>
          </a:xfrm>
          <a:prstGeom prst="roundRect">
            <a:avLst>
              <a:gd name="adj" fmla="val 20000"/>
            </a:avLst>
          </a:prstGeom>
          <a:solidFill>
            <a:srgbClr val="FAF0D7"/>
          </a:solidFill>
          <a:ln w="6350">
            <a:solidFill>
              <a:srgbClr val="D4A8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383280" y="331927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4A84B"/>
                </a:solidFill>
              </a:rPr>
              <a:t>Per-use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5800" y="3749040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</a:rPr>
              <a:t>Premium dispute resolution, time-sensitive swap priority, and concierge matching.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800600" y="3154680"/>
            <a:ext cx="397764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FF5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800600" y="3154680"/>
            <a:ext cx="64008" cy="1508760"/>
          </a:xfrm>
          <a:prstGeom prst="rect">
            <a:avLst/>
          </a:prstGeom>
          <a:solidFill>
            <a:srgbClr val="1A6B4A"/>
          </a:solidFill>
          <a:ln w="12700">
            <a:solidFill>
              <a:srgbClr val="1A6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029200" y="331927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C1C"/>
                </a:solidFill>
              </a:rPr>
              <a:t>📣  Promoted Listings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26680" y="3319272"/>
            <a:ext cx="822960" cy="274320"/>
          </a:xfrm>
          <a:prstGeom prst="roundRect">
            <a:avLst>
              <a:gd name="adj" fmla="val 20000"/>
            </a:avLst>
          </a:prstGeom>
          <a:solidFill>
            <a:srgbClr val="FAF0D7"/>
          </a:solidFill>
          <a:ln w="6350">
            <a:solidFill>
              <a:srgbClr val="D4A8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726680" y="331927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4A84B"/>
                </a:solidFill>
              </a:rPr>
              <a:t>CPC model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29200" y="3749040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</a:rPr>
              <a:t>Skill providers boost visibility in search results across their local area.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Go-to-Market Strategy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5568"/>
                </a:solidFill>
              </a:rPr>
              <a:t>Community-led, city-by-city rollout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11480" y="1463040"/>
            <a:ext cx="2697480" cy="34290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FF5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1463040"/>
            <a:ext cx="2697480" cy="640080"/>
          </a:xfrm>
          <a:prstGeom prst="rect">
            <a:avLst/>
          </a:prstGeom>
          <a:solidFill>
            <a:srgbClr val="1A6B4A"/>
          </a:solidFill>
          <a:ln w="12700">
            <a:solidFill>
              <a:srgbClr val="1A6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Phase 1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Now → Q4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221284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C1C"/>
                </a:solidFill>
              </a:rPr>
              <a:t>Community Anchors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69748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6B4A"/>
                </a:solidFill>
              </a:rPr>
              <a:t>›  </a:t>
            </a:r>
            <a:r>
              <a:rPr lang="en-US" sz="1100" dirty="0">
                <a:solidFill>
                  <a:srgbClr val="4A5568"/>
                </a:solidFill>
              </a:rPr>
              <a:t>Partner with 5 city hubs (Vancouver, Toronto, London, NYC, Berlin)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338328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6B4A"/>
                </a:solidFill>
              </a:rPr>
              <a:t>›  </a:t>
            </a:r>
            <a:r>
              <a:rPr lang="en-US" sz="1100" dirty="0">
                <a:solidFill>
                  <a:srgbClr val="4A5568"/>
                </a:solidFill>
              </a:rPr>
              <a:t>Creator ambassador program for niche skill categories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406908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6B4A"/>
                </a:solidFill>
              </a:rPr>
              <a:t>›  </a:t>
            </a:r>
            <a:r>
              <a:rPr lang="en-US" sz="1100" dirty="0">
                <a:solidFill>
                  <a:srgbClr val="4A5568"/>
                </a:solidFill>
              </a:rPr>
              <a:t>Launch in co-working spaces and maker communities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19272" y="1463040"/>
            <a:ext cx="2697480" cy="34290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FF5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319272" y="1463040"/>
            <a:ext cx="2697480" cy="640080"/>
          </a:xfrm>
          <a:prstGeom prst="rect">
            <a:avLst/>
          </a:prstGeom>
          <a:solidFill>
            <a:srgbClr val="2D9E6B"/>
          </a:solidFill>
          <a:ln w="12700">
            <a:solidFill>
              <a:srgbClr val="2D9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456432" y="150876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Phase 2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Q1 → Q3 2027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456432" y="221284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C1C"/>
                </a:solidFill>
              </a:rPr>
              <a:t>Viral Loops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56432" y="269748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9E6B"/>
                </a:solidFill>
              </a:rPr>
              <a:t>›  </a:t>
            </a:r>
            <a:r>
              <a:rPr lang="en-US" sz="1100" dirty="0">
                <a:solidFill>
                  <a:srgbClr val="4A5568"/>
                </a:solidFill>
              </a:rPr>
              <a:t>Referral program: invite 3 friends, unlock Pro for free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456432" y="338328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9E6B"/>
                </a:solidFill>
              </a:rPr>
              <a:t>›  </a:t>
            </a:r>
            <a:r>
              <a:rPr lang="en-US" sz="1100" dirty="0">
                <a:solidFill>
                  <a:srgbClr val="4A5568"/>
                </a:solidFill>
              </a:rPr>
              <a:t>Skill showcases — community video swaps on social media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56432" y="406908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9E6B"/>
                </a:solidFill>
              </a:rPr>
              <a:t>›  </a:t>
            </a:r>
            <a:r>
              <a:rPr lang="en-US" sz="1100" dirty="0">
                <a:solidFill>
                  <a:srgbClr val="4A5568"/>
                </a:solidFill>
              </a:rPr>
              <a:t>SEO content hub: "how to barter [skill]" for 200+ categories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27064" y="1463040"/>
            <a:ext cx="2697480" cy="34290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FF5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227064" y="1463040"/>
            <a:ext cx="2697480" cy="640080"/>
          </a:xfrm>
          <a:prstGeom prst="rect">
            <a:avLst/>
          </a:prstGeom>
          <a:solidFill>
            <a:srgbClr val="D4A84B"/>
          </a:solidFill>
          <a:ln w="12700">
            <a:solidFill>
              <a:srgbClr val="D4A8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364224" y="150876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Phase 3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2028+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364224" y="221284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C1C"/>
                </a:solidFill>
              </a:rPr>
              <a:t>B2B &amp; Enterprise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64224" y="269748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84B"/>
                </a:solidFill>
              </a:rPr>
              <a:t>›  </a:t>
            </a:r>
            <a:r>
              <a:rPr lang="en-US" sz="1100" dirty="0">
                <a:solidFill>
                  <a:srgbClr val="4A5568"/>
                </a:solidFill>
              </a:rPr>
              <a:t>Corporate skill-swap programs for team-building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64224" y="338328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84B"/>
                </a:solidFill>
              </a:rPr>
              <a:t>›  </a:t>
            </a:r>
            <a:r>
              <a:rPr lang="en-US" sz="1100" dirty="0">
                <a:solidFill>
                  <a:srgbClr val="4A5568"/>
                </a:solidFill>
              </a:rPr>
              <a:t>University and bootcamp partnerships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364224" y="406908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84B"/>
                </a:solidFill>
              </a:rPr>
              <a:t>›  </a:t>
            </a:r>
            <a:r>
              <a:rPr lang="en-US" sz="1100" dirty="0">
                <a:solidFill>
                  <a:srgbClr val="4A5568"/>
                </a:solidFill>
              </a:rPr>
              <a:t>API for third-party skill platforms to integrate barter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EB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Competitive Landscape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5568"/>
                </a:solidFill>
              </a:rPr>
              <a:t>ServiceSwap is the only structured skill-barter platform built for trust and fairness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7863840" cy="338328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3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ServiceSwap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C1C1C"/>
                          </a:solidFill>
                        </a:rPr>
                        <a:t>Fiverr / Upwork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C1C1C"/>
                          </a:solidFill>
                        </a:rPr>
                        <a:t>Facebook Groups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C1C1C"/>
                          </a:solidFill>
                        </a:rPr>
                        <a:t>Craigslist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4A5568"/>
                          </a:solidFill>
                        </a:rPr>
                        <a:t>No cash required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C4444"/>
                          </a:solidFill>
                        </a:rPr>
                        <a:t>✗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</a:rPr>
                        <a:t>Partial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</a:rPr>
                        <a:t>Partial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4A5568"/>
                          </a:solidFill>
                        </a:rPr>
                        <a:t>Structured matching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5F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6B4A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C4444"/>
                          </a:solidFill>
                        </a:rPr>
                        <a:t>✗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C4444"/>
                          </a:solidFill>
                        </a:rPr>
                        <a:t>✗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4A5568"/>
                          </a:solidFill>
                        </a:rPr>
                        <a:t>Trust &amp; review system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6B4A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C4444"/>
                          </a:solidFill>
                        </a:rPr>
                        <a:t>✗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C4444"/>
                          </a:solidFill>
                        </a:rPr>
                        <a:t>✗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4A5568"/>
                          </a:solidFill>
                        </a:rPr>
                        <a:t>Community focus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5F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C4444"/>
                          </a:solidFill>
                        </a:rPr>
                        <a:t>✗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6B4A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C4444"/>
                          </a:solidFill>
                        </a:rPr>
                        <a:t>✗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4A5568"/>
                          </a:solidFill>
                        </a:rPr>
                        <a:t>Fair value algorithm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C4444"/>
                          </a:solidFill>
                        </a:rPr>
                        <a:t>✗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C4444"/>
                          </a:solidFill>
                        </a:rPr>
                        <a:t>✗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C4444"/>
                          </a:solidFill>
                        </a:rPr>
                        <a:t>✗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D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Financial Projections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5568"/>
                </a:solidFill>
              </a:rPr>
              <a:t>Conservative 3-year model — community-first, monetize at scale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417320"/>
          <a:ext cx="512064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852160" y="1508760"/>
            <a:ext cx="28803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FF5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852160" y="1508760"/>
            <a:ext cx="64008" cy="914400"/>
          </a:xfrm>
          <a:prstGeom prst="rect">
            <a:avLst/>
          </a:prstGeom>
          <a:solidFill>
            <a:srgbClr val="1A6B4A"/>
          </a:solidFill>
          <a:ln w="12700">
            <a:solidFill>
              <a:srgbClr val="1A6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035040" y="160020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6B4A"/>
                </a:solidFill>
              </a:rPr>
              <a:t>Year 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035040" y="189280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</a:rPr>
              <a:t>15K users · 5% Pro conversion · $120K ARR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852160" y="2606040"/>
            <a:ext cx="28803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FF5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852160" y="2606040"/>
            <a:ext cx="64008" cy="914400"/>
          </a:xfrm>
          <a:prstGeom prst="rect">
            <a:avLst/>
          </a:prstGeom>
          <a:solidFill>
            <a:srgbClr val="1A6B4A"/>
          </a:solidFill>
          <a:ln w="12700">
            <a:solidFill>
              <a:srgbClr val="1A6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035040" y="269748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6B4A"/>
                </a:solidFill>
              </a:rPr>
              <a:t>Year 2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035040" y="299008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</a:rPr>
              <a:t>80K users · 8% Pro + B2B pilots · $680K ARR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852160" y="3703320"/>
            <a:ext cx="28803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FF5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5852160" y="3703320"/>
            <a:ext cx="64008" cy="914400"/>
          </a:xfrm>
          <a:prstGeom prst="rect">
            <a:avLst/>
          </a:prstGeom>
          <a:solidFill>
            <a:srgbClr val="1A6B4A"/>
          </a:solidFill>
          <a:ln w="12700">
            <a:solidFill>
              <a:srgbClr val="1A6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035040" y="37947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6B4A"/>
                </a:solidFill>
              </a:rPr>
              <a:t>Year 3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035040" y="408736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</a:rPr>
              <a:t>280K users · 12% Pro · $2.4M ARR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852160" y="45720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6B4A"/>
                </a:solidFill>
              </a:rPr>
              <a:t>Path to breakeven: Month 18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6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731520"/>
            <a:ext cx="4572000" cy="4572000"/>
          </a:xfrm>
          <a:prstGeom prst="ellipse">
            <a:avLst/>
          </a:prstGeom>
          <a:solidFill>
            <a:srgbClr val="2D9E6B">
              <a:alpha val="22000"/>
            </a:srgbClr>
          </a:solidFill>
          <a:ln w="12700">
            <a:solidFill>
              <a:srgbClr val="2D9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182880"/>
            <a:ext cx="2743200" cy="2743200"/>
          </a:xfrm>
          <a:prstGeom prst="ellipse">
            <a:avLst/>
          </a:prstGeom>
          <a:solidFill>
            <a:srgbClr val="2D9E6B">
              <a:alpha val="40000"/>
            </a:srgbClr>
          </a:solidFill>
          <a:ln w="12700">
            <a:solidFill>
              <a:srgbClr val="2D9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5943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Let's build the world's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skill-barter economy.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260604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6ECD9"/>
                </a:solidFill>
              </a:rPr>
              <a:t>Every person has something valuable to offer.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C6ECD9"/>
                </a:solidFill>
              </a:rPr>
              <a:t>ServiceSwap makes it easy to trade.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361188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6ECD9"/>
                </a:solidFill>
              </a:rPr>
              <a:t>🌐  serviceswap.org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399592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C6ECD9"/>
                </a:solidFill>
              </a:rPr>
              <a:t>📧  </a:t>
            </a:r>
            <a:r>
              <a:rPr lang="en-US" sz="1400" dirty="0">
                <a:solidFill>
                  <a:schemeClr val="bg1"/>
                </a:solidFill>
              </a:rPr>
              <a:t>serviceswap455@gmail.com</a:t>
            </a:r>
          </a:p>
        </p:txBody>
      </p:sp>
      <p:sp>
        <p:nvSpPr>
          <p:cNvPr id="8" name="Text 6"/>
          <p:cNvSpPr/>
          <p:nvPr/>
        </p:nvSpPr>
        <p:spPr>
          <a:xfrm>
            <a:off x="548640" y="4379976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4663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84B"/>
                </a:solidFill>
              </a:rPr>
              <a:t>Thank you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690</Words>
  <Application>Microsoft Office PowerPoint</Application>
  <PresentationFormat>On-screen Show (16:9)</PresentationFormat>
  <Paragraphs>152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ServiceSwap — Pitch Deck</dc:title>
  <dc:subject>PptxGenJS Presentation</dc:subject>
  <dc:creator>PptxGenJS</dc:creator>
  <cp:lastModifiedBy>Axelle Guedia</cp:lastModifiedBy>
  <cp:revision>2</cp:revision>
  <dcterms:created xsi:type="dcterms:W3CDTF">2026-05-18T03:29:48Z</dcterms:created>
  <dcterms:modified xsi:type="dcterms:W3CDTF">2026-05-18T03:39:04Z</dcterms:modified>
</cp:coreProperties>
</file>